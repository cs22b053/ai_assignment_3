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Montserrat"/>
      <p:regular r:id="rId15"/>
      <p:bold r:id="rId16"/>
      <p:italic r:id="rId17"/>
      <p:boldItalic r:id="rId18"/>
    </p:embeddedFont>
    <p:embeddedFont>
      <p:font typeface="Lato"/>
      <p:regular r:id="rId19"/>
      <p:bold r:id="rId20"/>
      <p:italic r:id="rId21"/>
      <p:boldItalic r:id="rId22"/>
    </p:embeddedFont>
    <p:embeddedFont>
      <p:font typeface="Roboto Mon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F7216B-FB39-4C19-9385-3449CC970712}">
  <a:tblStyle styleId="{46F7216B-FB39-4C19-9385-3449CC97071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51106E2-E26B-4BFC-8F5B-71721A5617C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RobotoMono-bold.fntdata"/><Relationship Id="rId23" Type="http://schemas.openxmlformats.org/officeDocument/2006/relationships/font" Target="fonts/Roboto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boldItalic.fntdata"/><Relationship Id="rId25" Type="http://schemas.openxmlformats.org/officeDocument/2006/relationships/font" Target="fonts/RobotoMon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Montserrat-regular.fntdata"/><Relationship Id="rId14" Type="http://schemas.openxmlformats.org/officeDocument/2006/relationships/slide" Target="slides/slide8.xml"/><Relationship Id="rId17" Type="http://schemas.openxmlformats.org/officeDocument/2006/relationships/font" Target="fonts/Montserrat-italic.fntdata"/><Relationship Id="rId16" Type="http://schemas.openxmlformats.org/officeDocument/2006/relationships/font" Target="fonts/Montserrat-bold.fntdata"/><Relationship Id="rId19" Type="http://schemas.openxmlformats.org/officeDocument/2006/relationships/font" Target="fonts/Lato-regular.fntdata"/><Relationship Id="rId18"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32808909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32808909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532808909a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532808909a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32808909a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32808909a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532808909a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532808909a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532808909a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532808909a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532808909a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532808909a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532808909a_0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532808909a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132250" y="1769475"/>
            <a:ext cx="4543800" cy="900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AI Assignment 3</a:t>
            </a:r>
            <a:endParaRPr sz="3000"/>
          </a:p>
        </p:txBody>
      </p:sp>
      <p:sp>
        <p:nvSpPr>
          <p:cNvPr id="135" name="Google Shape;135;p13"/>
          <p:cNvSpPr txBox="1"/>
          <p:nvPr>
            <p:ph idx="1" type="subTitle"/>
          </p:nvPr>
        </p:nvSpPr>
        <p:spPr>
          <a:xfrm>
            <a:off x="3132250" y="2522600"/>
            <a:ext cx="4789800" cy="75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TEAM MEMBER : CS22B034 , CS22B054</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346650" y="611475"/>
            <a:ext cx="7038900" cy="694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Environment:</a:t>
            </a:r>
            <a:endParaRPr/>
          </a:p>
        </p:txBody>
      </p:sp>
      <p:sp>
        <p:nvSpPr>
          <p:cNvPr id="141" name="Google Shape;141;p14"/>
          <p:cNvSpPr txBox="1"/>
          <p:nvPr>
            <p:ph idx="1" type="body"/>
          </p:nvPr>
        </p:nvSpPr>
        <p:spPr>
          <a:xfrm>
            <a:off x="1346650" y="1335800"/>
            <a:ext cx="7038900" cy="29112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sz="1600">
                <a:latin typeface="Arial"/>
                <a:ea typeface="Arial"/>
                <a:cs typeface="Arial"/>
                <a:sym typeface="Arial"/>
              </a:rPr>
              <a:t>This project is centered around a chess-playing environment built using the </a:t>
            </a:r>
            <a:r>
              <a:rPr lang="en" sz="1600">
                <a:latin typeface="Roboto Mono"/>
                <a:ea typeface="Roboto Mono"/>
                <a:cs typeface="Roboto Mono"/>
                <a:sym typeface="Roboto Mono"/>
              </a:rPr>
              <a:t>python-chess</a:t>
            </a:r>
            <a:r>
              <a:rPr lang="en" sz="1600">
                <a:latin typeface="Arial"/>
                <a:ea typeface="Arial"/>
                <a:cs typeface="Arial"/>
                <a:sym typeface="Arial"/>
              </a:rPr>
              <a:t> library, which simulates a virtual chessboard, manages legal move generation, tracks board states, and determines game outcomes. It integrates with the powerful Stockfish engine to evaluate positions and support AI decision-making through algorithms such as Minimax and Alpha-Beta Pruning.</a:t>
            </a:r>
            <a:endParaRPr sz="1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Search Mechanism</a:t>
            </a:r>
            <a:endParaRPr/>
          </a:p>
        </p:txBody>
      </p:sp>
      <p:sp>
        <p:nvSpPr>
          <p:cNvPr id="147" name="Google Shape;147;p15"/>
          <p:cNvSpPr txBox="1"/>
          <p:nvPr/>
        </p:nvSpPr>
        <p:spPr>
          <a:xfrm>
            <a:off x="1035925" y="2394850"/>
            <a:ext cx="7296900" cy="1743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dk1"/>
                </a:solidFill>
                <a:latin typeface="Lato"/>
                <a:ea typeface="Lato"/>
                <a:cs typeface="Lato"/>
                <a:sym typeface="Lato"/>
              </a:rPr>
              <a:t>The entire game tree is constructed beforehand, allowing the Minimax algorithm to explore all possible moves up to a specified depth. It alternates between Max nodes (AI) and Min nodes (opponent) to evaluate the best possible outcome. Since it performs no pruning, every leaf node is evaluated, making the process computationally intensive. This approach is best suited for scenarios where the search depth is limited or when a complete analysis of all outcomes is required.</a:t>
            </a:r>
            <a:endParaRPr sz="1500">
              <a:solidFill>
                <a:schemeClr val="dk1"/>
              </a:solidFill>
              <a:latin typeface="Lato"/>
              <a:ea typeface="Lato"/>
              <a:cs typeface="Lato"/>
              <a:sym typeface="Lato"/>
            </a:endParaRPr>
          </a:p>
        </p:txBody>
      </p:sp>
      <p:sp>
        <p:nvSpPr>
          <p:cNvPr id="148" name="Google Shape;148;p15"/>
          <p:cNvSpPr txBox="1"/>
          <p:nvPr/>
        </p:nvSpPr>
        <p:spPr>
          <a:xfrm>
            <a:off x="1035925" y="1741725"/>
            <a:ext cx="4045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Minimax</a:t>
            </a:r>
            <a:endParaRPr sz="2000">
              <a:solidFill>
                <a:schemeClr val="l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nvSpPr>
        <p:spPr>
          <a:xfrm>
            <a:off x="1116675" y="1573125"/>
            <a:ext cx="4045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Alpha-Beta  Pruning</a:t>
            </a:r>
            <a:endParaRPr sz="2000">
              <a:solidFill>
                <a:schemeClr val="lt1"/>
              </a:solidFill>
              <a:latin typeface="Lato"/>
              <a:ea typeface="Lato"/>
              <a:cs typeface="Lato"/>
              <a:sym typeface="Lato"/>
            </a:endParaRPr>
          </a:p>
        </p:txBody>
      </p:sp>
      <p:sp>
        <p:nvSpPr>
          <p:cNvPr id="154" name="Google Shape;154;p16"/>
          <p:cNvSpPr txBox="1"/>
          <p:nvPr/>
        </p:nvSpPr>
        <p:spPr>
          <a:xfrm>
            <a:off x="1116675" y="2247375"/>
            <a:ext cx="7163700" cy="14775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500">
                <a:solidFill>
                  <a:schemeClr val="dk1"/>
                </a:solidFill>
                <a:latin typeface="Lato"/>
                <a:ea typeface="Lato"/>
                <a:cs typeface="Lato"/>
                <a:sym typeface="Lato"/>
              </a:rPr>
              <a:t>The complete game tree is conceptually considered, similar to Minimax, but with added optimization through alpha (maximum bound) and beta (minimum bound) values. These bounds help prune branches that cannot affect the final decision, avoiding unnecessary evaluations. As a result, it significantly reduces computation time while still producing the same outcome as the standard Minimax algorithm.</a:t>
            </a:r>
            <a:endParaRPr sz="1500">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nvSpPr>
        <p:spPr>
          <a:xfrm>
            <a:off x="1165850" y="1524000"/>
            <a:ext cx="4045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Minimax with K-Ply</a:t>
            </a:r>
            <a:endParaRPr sz="2000">
              <a:solidFill>
                <a:schemeClr val="lt1"/>
              </a:solidFill>
              <a:latin typeface="Lato"/>
              <a:ea typeface="Lato"/>
              <a:cs typeface="Lato"/>
              <a:sym typeface="Lato"/>
            </a:endParaRPr>
          </a:p>
          <a:p>
            <a:pPr indent="0" lvl="0" marL="0" rtl="0" algn="l">
              <a:spcBef>
                <a:spcPts val="0"/>
              </a:spcBef>
              <a:spcAft>
                <a:spcPts val="0"/>
              </a:spcAft>
              <a:buNone/>
            </a:pPr>
            <a:r>
              <a:t/>
            </a:r>
            <a:endParaRPr sz="2000">
              <a:solidFill>
                <a:schemeClr val="lt1"/>
              </a:solidFill>
              <a:latin typeface="Lato"/>
              <a:ea typeface="Lato"/>
              <a:cs typeface="Lato"/>
              <a:sym typeface="Lato"/>
            </a:endParaRPr>
          </a:p>
        </p:txBody>
      </p:sp>
      <p:sp>
        <p:nvSpPr>
          <p:cNvPr id="160" name="Google Shape;160;p17"/>
          <p:cNvSpPr txBox="1"/>
          <p:nvPr/>
        </p:nvSpPr>
        <p:spPr>
          <a:xfrm>
            <a:off x="1165850" y="2387600"/>
            <a:ext cx="7395300" cy="1339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This is a constrained version of the Minimax algorithm that explores the game tree only up to a fixed depth kkk (e.g., 2-ply or 3-ply). It's ideal when a full-depth search is computationally infeasible. An evaluation function is applied to the leaf nodes at the kkk-th level to estimate outcomes. While it is faster than full Minimax, it sacrifices some accuracy due to the limited search depth.</a:t>
            </a:r>
            <a:endParaRPr sz="15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8"/>
          <p:cNvSpPr txBox="1"/>
          <p:nvPr/>
        </p:nvSpPr>
        <p:spPr>
          <a:xfrm>
            <a:off x="1165850" y="1524000"/>
            <a:ext cx="4045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lt1"/>
                </a:solidFill>
                <a:latin typeface="Lato"/>
                <a:ea typeface="Lato"/>
                <a:cs typeface="Lato"/>
                <a:sym typeface="Lato"/>
              </a:rPr>
              <a:t>Alpha-Beta with K-Ply</a:t>
            </a:r>
            <a:endParaRPr sz="2000">
              <a:solidFill>
                <a:schemeClr val="lt1"/>
              </a:solidFill>
              <a:latin typeface="Lato"/>
              <a:ea typeface="Lato"/>
              <a:cs typeface="Lato"/>
              <a:sym typeface="Lato"/>
            </a:endParaRPr>
          </a:p>
        </p:txBody>
      </p:sp>
      <p:sp>
        <p:nvSpPr>
          <p:cNvPr id="166" name="Google Shape;166;p18"/>
          <p:cNvSpPr txBox="1"/>
          <p:nvPr/>
        </p:nvSpPr>
        <p:spPr>
          <a:xfrm>
            <a:off x="1165850" y="2387600"/>
            <a:ext cx="7395300" cy="13392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This approach combines the efficiency of depth-limited search (like kkk-ply Minimax) with the optimization of pruning. It prunes irrelevant branches within the specified depth kkk, reducing unnecessary calculations. It is the fastest among all search methods, especially when dealing with larger branching factors. This method maintains good decision quality while significantly saving on computation time.</a:t>
            </a:r>
            <a:endParaRPr sz="15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Performance Evaluation</a:t>
            </a:r>
            <a:endParaRPr/>
          </a:p>
        </p:txBody>
      </p:sp>
      <p:graphicFrame>
        <p:nvGraphicFramePr>
          <p:cNvPr id="172" name="Google Shape;172;p19"/>
          <p:cNvGraphicFramePr/>
          <p:nvPr/>
        </p:nvGraphicFramePr>
        <p:xfrm>
          <a:off x="1197450" y="1532325"/>
          <a:ext cx="3000000" cy="3000000"/>
        </p:xfrm>
        <a:graphic>
          <a:graphicData uri="http://schemas.openxmlformats.org/drawingml/2006/table">
            <a:tbl>
              <a:tblPr>
                <a:noFill/>
                <a:tableStyleId>{46F7216B-FB39-4C19-9385-3449CC970712}</a:tableStyleId>
              </a:tblPr>
              <a:tblGrid>
                <a:gridCol w="1634175"/>
                <a:gridCol w="2167925"/>
                <a:gridCol w="1627150"/>
                <a:gridCol w="1809750"/>
              </a:tblGrid>
              <a:tr h="381000">
                <a:tc>
                  <a:txBody>
                    <a:bodyPr/>
                    <a:lstStyle/>
                    <a:p>
                      <a:pPr indent="0" lvl="0" marL="0" rtl="0" algn="l">
                        <a:spcBef>
                          <a:spcPts val="0"/>
                        </a:spcBef>
                        <a:spcAft>
                          <a:spcPts val="0"/>
                        </a:spcAft>
                        <a:buNone/>
                      </a:pPr>
                      <a:r>
                        <a:rPr lang="en">
                          <a:solidFill>
                            <a:schemeClr val="dk1"/>
                          </a:solidFill>
                        </a:rPr>
                        <a:t>Algorithm</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solidFill>
                      <a:schemeClr val="dk2"/>
                    </a:solidFill>
                  </a:tcPr>
                </a:tc>
                <a:tc>
                  <a:txBody>
                    <a:bodyPr/>
                    <a:lstStyle/>
                    <a:p>
                      <a:pPr indent="0" lvl="0" marL="0" rtl="0" algn="l">
                        <a:spcBef>
                          <a:spcPts val="0"/>
                        </a:spcBef>
                        <a:spcAft>
                          <a:spcPts val="0"/>
                        </a:spcAft>
                        <a:buNone/>
                      </a:pPr>
                      <a:r>
                        <a:rPr lang="en">
                          <a:solidFill>
                            <a:schemeClr val="dk1"/>
                          </a:solidFill>
                        </a:rPr>
                        <a:t>Total Time / Build Time</a:t>
                      </a:r>
                      <a:endParaRPr>
                        <a:solidFill>
                          <a:schemeClr val="dk1"/>
                        </a:solidFill>
                      </a:endParaRPr>
                    </a:p>
                  </a:txBody>
                  <a:tcPr marT="91425" marB="91425" marR="91425" marL="91425">
                    <a:solidFill>
                      <a:schemeClr val="dk2"/>
                    </a:solidFill>
                  </a:tcPr>
                </a:tc>
                <a:tc>
                  <a:txBody>
                    <a:bodyPr/>
                    <a:lstStyle/>
                    <a:p>
                      <a:pPr indent="0" lvl="0" marL="0" rtl="0" algn="l">
                        <a:spcBef>
                          <a:spcPts val="0"/>
                        </a:spcBef>
                        <a:spcAft>
                          <a:spcPts val="0"/>
                        </a:spcAft>
                        <a:buNone/>
                      </a:pPr>
                      <a:r>
                        <a:rPr lang="en">
                          <a:solidFill>
                            <a:schemeClr val="dk1"/>
                          </a:solidFill>
                        </a:rPr>
                        <a:t># of Evaluations</a:t>
                      </a:r>
                      <a:endParaRPr>
                        <a:solidFill>
                          <a:schemeClr val="dk1"/>
                        </a:solidFill>
                      </a:endParaRPr>
                    </a:p>
                  </a:txBody>
                  <a:tcPr marT="91425" marB="91425" marR="91425" marL="91425">
                    <a:solidFill>
                      <a:schemeClr val="dk2"/>
                    </a:solidFill>
                  </a:tcPr>
                </a:tc>
                <a:tc>
                  <a:txBody>
                    <a:bodyPr/>
                    <a:lstStyle/>
                    <a:p>
                      <a:pPr indent="0" lvl="0" marL="0" rtl="0" algn="l">
                        <a:spcBef>
                          <a:spcPts val="0"/>
                        </a:spcBef>
                        <a:spcAft>
                          <a:spcPts val="0"/>
                        </a:spcAft>
                        <a:buNone/>
                      </a:pPr>
                      <a:r>
                        <a:rPr lang="en">
                          <a:solidFill>
                            <a:schemeClr val="dk1"/>
                          </a:solidFill>
                        </a:rPr>
                        <a:t>Explored Depth</a:t>
                      </a:r>
                      <a:endParaRPr>
                        <a:solidFill>
                          <a:schemeClr val="dk1"/>
                        </a:solidFill>
                      </a:endParaRPr>
                    </a:p>
                  </a:txBody>
                  <a:tcPr marT="91425" marB="91425" marR="91425" marL="91425">
                    <a:solidFill>
                      <a:schemeClr val="dk2"/>
                    </a:solidFill>
                  </a:tcPr>
                </a:tc>
              </a:tr>
              <a:tr h="381000">
                <a:tc>
                  <a:txBody>
                    <a:bodyPr/>
                    <a:lstStyle/>
                    <a:p>
                      <a:pPr indent="0" lvl="0" marL="0" rtl="0" algn="l">
                        <a:spcBef>
                          <a:spcPts val="0"/>
                        </a:spcBef>
                        <a:spcAft>
                          <a:spcPts val="0"/>
                        </a:spcAft>
                        <a:buNone/>
                      </a:pPr>
                      <a:r>
                        <a:rPr lang="en">
                          <a:solidFill>
                            <a:schemeClr val="lt1"/>
                          </a:solidFill>
                        </a:rPr>
                        <a:t>Minimax</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200.10 s / 199.10 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Full depth (tree prebuilt)</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Very high</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Alpha–Beta Pruning</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200.14 s / 200.10 s</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Full depth (pruned during search)</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High – reduced by pruning</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b="1" lang="en" sz="1100">
                          <a:solidFill>
                            <a:schemeClr val="lt1"/>
                          </a:solidFill>
                        </a:rPr>
                        <a:t>Depth-Limited Minimax (2-ply)</a:t>
                      </a:r>
                      <a:endParaRPr b="1" sz="1100">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8.96 s / n/a (built on-the-fly)</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Fixed at 2-ply</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Moderate – limited by depth</a:t>
                      </a:r>
                      <a:endParaRPr>
                        <a:solidFill>
                          <a:schemeClr val="lt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lt1"/>
                          </a:solidFill>
                        </a:rPr>
                        <a:t>Depth-Limited α-β Pruning (2-ply)</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0.90 s / n/a (built on-the-fly)</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Fixed at 2-ply with pruning</a:t>
                      </a:r>
                      <a:endParaRPr>
                        <a:solidFill>
                          <a:schemeClr val="lt1"/>
                        </a:solidFill>
                      </a:endParaRPr>
                    </a:p>
                  </a:txBody>
                  <a:tcPr marT="91425" marB="91425" marR="91425" marL="91425"/>
                </a:tc>
                <a:tc>
                  <a:txBody>
                    <a:bodyPr/>
                    <a:lstStyle/>
                    <a:p>
                      <a:pPr indent="0" lvl="0" marL="0" rtl="0" algn="l">
                        <a:spcBef>
                          <a:spcPts val="0"/>
                        </a:spcBef>
                        <a:spcAft>
                          <a:spcPts val="0"/>
                        </a:spcAft>
                        <a:buNone/>
                      </a:pPr>
                      <a:r>
                        <a:rPr lang="en">
                          <a:solidFill>
                            <a:schemeClr val="lt1"/>
                          </a:solidFill>
                        </a:rPr>
                        <a:t>Lowest</a:t>
                      </a:r>
                      <a:endParaRPr>
                        <a:solidFill>
                          <a:schemeClr val="lt1"/>
                        </a:solidFill>
                      </a:endParaRPr>
                    </a:p>
                  </a:txBody>
                  <a:tcPr marT="91425" marB="91425" marR="91425" marL="91425"/>
                </a:tc>
              </a:tr>
            </a:tbl>
          </a:graphicData>
        </a:graphic>
      </p:graphicFrame>
      <p:graphicFrame>
        <p:nvGraphicFramePr>
          <p:cNvPr id="173" name="Google Shape;173;p19"/>
          <p:cNvGraphicFramePr/>
          <p:nvPr/>
        </p:nvGraphicFramePr>
        <p:xfrm>
          <a:off x="152400" y="152400"/>
          <a:ext cx="3000000" cy="3000000"/>
        </p:xfrm>
        <a:graphic>
          <a:graphicData uri="http://schemas.openxmlformats.org/drawingml/2006/table">
            <a:tbl>
              <a:tblPr>
                <a:noFill/>
                <a:tableStyleId>{E51106E2-E26B-4BFC-8F5B-71721A5617C6}</a:tableStyleId>
              </a:tblPr>
              <a:tblGrid>
                <a:gridCol w="19050"/>
              </a:tblGrid>
              <a:tr h="200025">
                <a:tc>
                  <a:txBody>
                    <a:bodyPr/>
                    <a:lstStyle/>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Observations</a:t>
            </a:r>
            <a:endParaRPr/>
          </a:p>
        </p:txBody>
      </p:sp>
      <p:sp>
        <p:nvSpPr>
          <p:cNvPr id="179" name="Google Shape;179;p20"/>
          <p:cNvSpPr txBox="1"/>
          <p:nvPr>
            <p:ph idx="1" type="body"/>
          </p:nvPr>
        </p:nvSpPr>
        <p:spPr>
          <a:xfrm>
            <a:off x="1297500" y="1046425"/>
            <a:ext cx="7038900" cy="3371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b="1" lang="en" sz="1500">
                <a:latin typeface="Arial"/>
                <a:ea typeface="Arial"/>
                <a:cs typeface="Arial"/>
                <a:sym typeface="Arial"/>
              </a:rPr>
              <a:t>Tree building takes most of the time</a:t>
            </a:r>
            <a:r>
              <a:rPr lang="en" sz="1500">
                <a:latin typeface="Arial"/>
                <a:ea typeface="Arial"/>
                <a:cs typeface="Arial"/>
                <a:sym typeface="Arial"/>
              </a:rPr>
              <a:t> in full Minimax and Alpha-Beta, making them slow for practical use.</a:t>
            </a:r>
            <a:br>
              <a:rPr lang="en" sz="1500">
                <a:latin typeface="Arial"/>
                <a:ea typeface="Arial"/>
                <a:cs typeface="Arial"/>
                <a:sym typeface="Arial"/>
              </a:rPr>
            </a:br>
            <a:endParaRPr sz="1500">
              <a:latin typeface="Arial"/>
              <a:ea typeface="Arial"/>
              <a:cs typeface="Arial"/>
              <a:sym typeface="Arial"/>
            </a:endParaRPr>
          </a:p>
          <a:p>
            <a:pPr indent="-323850" lvl="0" marL="457200" rtl="0" algn="l">
              <a:spcBef>
                <a:spcPts val="0"/>
              </a:spcBef>
              <a:spcAft>
                <a:spcPts val="0"/>
              </a:spcAft>
              <a:buSzPts val="1500"/>
              <a:buChar char="➢"/>
            </a:pPr>
            <a:r>
              <a:rPr b="1" lang="en" sz="1500">
                <a:latin typeface="Arial"/>
                <a:ea typeface="Arial"/>
                <a:cs typeface="Arial"/>
                <a:sym typeface="Arial"/>
              </a:rPr>
              <a:t>All algorithms chose the same best move (c1f4)</a:t>
            </a:r>
            <a:r>
              <a:rPr lang="en" sz="1500">
                <a:latin typeface="Arial"/>
                <a:ea typeface="Arial"/>
                <a:cs typeface="Arial"/>
                <a:sym typeface="Arial"/>
              </a:rPr>
              <a:t>, showing consistent decision quality and reliable evaluation by Stockfish.</a:t>
            </a:r>
            <a:br>
              <a:rPr lang="en" sz="1500">
                <a:latin typeface="Arial"/>
                <a:ea typeface="Arial"/>
                <a:cs typeface="Arial"/>
                <a:sym typeface="Arial"/>
              </a:rPr>
            </a:br>
            <a:endParaRPr sz="1500">
              <a:latin typeface="Arial"/>
              <a:ea typeface="Arial"/>
              <a:cs typeface="Arial"/>
              <a:sym typeface="Arial"/>
            </a:endParaRPr>
          </a:p>
          <a:p>
            <a:pPr indent="-323850" lvl="0" marL="457200" rtl="0" algn="l">
              <a:spcBef>
                <a:spcPts val="0"/>
              </a:spcBef>
              <a:spcAft>
                <a:spcPts val="0"/>
              </a:spcAft>
              <a:buSzPts val="1500"/>
              <a:buChar char="➢"/>
            </a:pPr>
            <a:r>
              <a:rPr b="1" lang="en" sz="1500">
                <a:latin typeface="Arial"/>
                <a:ea typeface="Arial"/>
                <a:cs typeface="Arial"/>
                <a:sym typeface="Arial"/>
              </a:rPr>
              <a:t>K-ply versions are much faster</a:t>
            </a:r>
            <a:r>
              <a:rPr lang="en" sz="1500">
                <a:latin typeface="Arial"/>
                <a:ea typeface="Arial"/>
                <a:cs typeface="Arial"/>
                <a:sym typeface="Arial"/>
              </a:rPr>
              <a:t> — Alpha-Beta (k-ply) was fastest at </a:t>
            </a:r>
            <a:r>
              <a:rPr b="1" lang="en" sz="1500">
                <a:latin typeface="Arial"/>
                <a:ea typeface="Arial"/>
                <a:cs typeface="Arial"/>
                <a:sym typeface="Arial"/>
              </a:rPr>
              <a:t>0.88s</a:t>
            </a:r>
            <a:r>
              <a:rPr lang="en" sz="1500">
                <a:latin typeface="Arial"/>
                <a:ea typeface="Arial"/>
                <a:cs typeface="Arial"/>
                <a:sym typeface="Arial"/>
              </a:rPr>
              <a:t>, suitable for real-time use.</a:t>
            </a:r>
            <a:br>
              <a:rPr lang="en" sz="1500">
                <a:latin typeface="Arial"/>
                <a:ea typeface="Arial"/>
                <a:cs typeface="Arial"/>
                <a:sym typeface="Arial"/>
              </a:rPr>
            </a:br>
            <a:endParaRPr sz="1500">
              <a:latin typeface="Arial"/>
              <a:ea typeface="Arial"/>
              <a:cs typeface="Arial"/>
              <a:sym typeface="Arial"/>
            </a:endParaRPr>
          </a:p>
          <a:p>
            <a:pPr indent="-323850" lvl="0" marL="457200" rtl="0" algn="l">
              <a:spcBef>
                <a:spcPts val="0"/>
              </a:spcBef>
              <a:spcAft>
                <a:spcPts val="0"/>
              </a:spcAft>
              <a:buSzPts val="1500"/>
              <a:buChar char="➢"/>
            </a:pPr>
            <a:r>
              <a:rPr b="1" lang="en" sz="1500">
                <a:latin typeface="Arial"/>
                <a:ea typeface="Arial"/>
                <a:cs typeface="Arial"/>
                <a:sym typeface="Arial"/>
              </a:rPr>
              <a:t>Alpha-Beta with k-ply</a:t>
            </a:r>
            <a:r>
              <a:rPr lang="en" sz="1500">
                <a:latin typeface="Arial"/>
                <a:ea typeface="Arial"/>
                <a:cs typeface="Arial"/>
                <a:sym typeface="Arial"/>
              </a:rPr>
              <a:t> offers the </a:t>
            </a:r>
            <a:r>
              <a:rPr b="1" lang="en" sz="1500">
                <a:latin typeface="Arial"/>
                <a:ea typeface="Arial"/>
                <a:cs typeface="Arial"/>
                <a:sym typeface="Arial"/>
              </a:rPr>
              <a:t>best efficiency</a:t>
            </a:r>
            <a:r>
              <a:rPr lang="en" sz="1500">
                <a:latin typeface="Arial"/>
                <a:ea typeface="Arial"/>
                <a:cs typeface="Arial"/>
                <a:sym typeface="Arial"/>
              </a:rPr>
              <a:t> with minimal loss in accuracy.</a:t>
            </a:r>
            <a:endParaRPr sz="150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